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Callback to the environment-setup lecture explicitly: the terminal setup everyone confirmed working then is exactly what runs every command today — this isn't new infrastructure, just a new thing to type into it. Nobody in this room is expected to already know git. Say that out loud. Today is fully guided — every command gets typed together, live, before it's ever asked of them alone.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This exact sequence is what the actual project's rubric checks for — not abstractly, literally these three things.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Common early confusion: thinking git and GitHub are the same thing. They aren't — git works with zero internet connection; GitHub is one (very common) place to host what git is already tracking.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"You'll know these by the end of today." Point out "commit" specifically — it's a noun (a saved snapshot) and a verb (the act of saving one), and both uses come up constantly.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Everyone follows along on their own machine from here — hands-on, not a demo to watch.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Run this together, live. Afterward, run `ls -a` so they can actually see the new hidden `.git` folder — it stops being abstract once they've seen it exist.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Have them create README.md right now, in VS Code, with one sentence describing the (placeholder) project. This becomes real on the actual project — a README with nothing in it is a common lower-scoring pattern.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Back to typing together, now with a real file to actually stage.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Emphasize git status is completely safe to run any time, as often as they want — it's read-only. Build the habit of running it before and after every git command today.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This is where the project's #2 flagged mistake (one giant final commit) gets prevented — model a SPECIFIC, descriptive message now, while it's cheap, so it's already a habit by project time.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Run this live, right after editing README.md a second time — git diff only shows something for a file git already knows about, so this only works cleanly *after* the first commit, not before it. Seeing the actual +/- line diff makes "git tracks changes" concrete instead of abstract.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[~25 min mark] Everything so far has been entirely local — nothing's been shared yet. That changes now.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Walk through the actual github.com UI live, screen-shared. The "don't add a README" point matters — it avoids an immediate merge conflict for a brand-new repo, a confusing first-day surprise.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Back to the terminal — this is the moment their local work actually becomes visible on GitHub.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The most common live hiccup here is a typo'd URL or an auth prompt — narrate what a real error looks like so it's not alarming when it happens to someone.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Run this after the push. This is the actual payoff of today's whole lesson: a real, readable history they built themselves, not an abstract promise.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Name all three explicitly before anyone hits them — normalizing this up front (per this Fellowship's stereotype-threat research) matters more than any individual fix.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Tokens:  Need to generate an ssh token at times which in Github click on profile picture &gt; settings &gt; ssh and gpg keys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Cold-call after individual think time. This is a genuinely common real moment — reinforcing "when unsure, run git status" pays off well beyond today.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Correct answer: git status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Why: git status is always safe to run and always tells you the real current state — staged files, unstaged changes, what branch you're 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This module's own objective-3 definition, not an external citation</a:t>
            </a:r>
            <a:endParaRPr/>
          </a:p>
        </p:txBody>
      </p:sp>
      <p:sp>
        <p:nvSpPr>
          <p:cNvPr id="383" name="Google Shape;383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[ACTIVITY] Padlet/Jamboard, or a physical whiteboard if in person; online, drop the order into chat and unmute 1-2 Fellows to explain why. Correct order: git init, git add, git commit, git push. The real teaching point isn't just the order — it's WHY: nothing else works until init starts tracking the folder, and you can't commit what was never added.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This is the actual applied skill, not just the concept — have a few Fellows share their real rewritten message out loud before revealing the example.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Correct answer: "Fix typo in README installation steps"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Why: A good message names the specific WHAT — someone reading the log later (including future-you) should know what changed without opening the diff.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This module's own objective-3 definition, not an external citation</a:t>
            </a:r>
            <a:endParaRPr/>
          </a:p>
        </p:txBody>
      </p:sp>
      <p:sp>
        <p:nvSpPr>
          <p:cNvPr id="449" name="Google Shape;449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" name="Google Shape;462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Last reinforcement pass — tie each term back to the exact command that just used it live today.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Today was fully guided — next class's lab is the same sequence again, on your own, with support circulating. The project later this module asks for this completely unguided. Resolve today's opening explicitly: the same terminal confirmed working in the environment-setup lecture is exactly what just ran every command today.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Close by naming the lab specifically as the next rep at this exact sequence, not new content.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2" name="Google Shape;522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Mention these exist for review, don't assign as homework — the lab is today's real practice.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docs.github.com/en/get-started/start-your-journey/hello-world" TargetMode="External"/><Relationship Id="rId6" Type="http://schemas.openxmlformats.org/officeDocument/2006/relationships/hyperlink" Target="https://git-scm.com/book/en/v2/Git-Basics-Getting-a-Git-Repository" TargetMode="External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4326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658368" y="1463040"/>
            <a:ext cx="6035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 &amp; GitHub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58368" y="248716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Module 0: Foundations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6629400" y="1691640"/>
            <a:ext cx="1143000" cy="1143000"/>
          </a:xfrm>
          <a:prstGeom prst="ellipse">
            <a:avLst/>
          </a:prstGeom>
          <a:solidFill>
            <a:srgbClr val="FFF6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0296" y="1993392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6400800" y="297180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local folder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872983" y="203911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8183879" y="1691640"/>
            <a:ext cx="1143000" cy="1143000"/>
          </a:xfrm>
          <a:prstGeom prst="ellipse">
            <a:avLst/>
          </a:prstGeom>
          <a:solidFill>
            <a:srgbClr val="FFF6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4776" y="1993392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7955279" y="297180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9427463" y="203911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9738360" y="1691640"/>
            <a:ext cx="1143000" cy="1143000"/>
          </a:xfrm>
          <a:prstGeom prst="ellipse">
            <a:avLst/>
          </a:prstGeom>
          <a:solidFill>
            <a:srgbClr val="FFF6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ithub_forest_900.png" id="96" name="Google Shape;9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9256" y="1993392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9509760" y="297180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pic>
        <p:nvPicPr>
          <p:cNvPr descr="image5.png" id="99" name="Google Shape;9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By the End of Today, You’ll Be Able To…</a:t>
            </a:r>
            <a:endParaRPr/>
          </a:p>
        </p:txBody>
      </p:sp>
      <p:pic>
        <p:nvPicPr>
          <p:cNvPr descr="task_list_forest_900.png"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13232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1572768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69264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Start a local git repository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4489704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DEEAF4"/>
          </a:solidFill>
          <a:ln cap="flat" cmpd="sng" w="22850">
            <a:solidFill>
              <a:srgbClr val="2274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5349240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745736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Make a well-messaged commit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8266175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228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ithub_forest_900.png" id="117" name="Google Shape;11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85632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9125711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522207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Push your first commit to GitHub</a:t>
            </a:r>
            <a:endParaRPr/>
          </a:p>
        </p:txBody>
      </p:sp>
      <p:pic>
        <p:nvPicPr>
          <p:cNvPr descr="image1.png" id="120" name="Google Shape;12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Is a Notebook; GitHub Is the Shared Shelf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914400" y="5440680"/>
            <a:ext cx="2057400" cy="384048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139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60120" y="5495544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= LOCAL HISTORY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8641080" y="5440680"/>
            <a:ext cx="2331720" cy="384048"/>
          </a:xfrm>
          <a:prstGeom prst="roundRect">
            <a:avLst>
              <a:gd fmla="val 16667" name="adj"/>
            </a:avLst>
          </a:prstGeom>
          <a:solidFill>
            <a:srgbClr val="DEEAF4"/>
          </a:solidFill>
          <a:ln cap="flat" cmpd="sng" w="13950">
            <a:solidFill>
              <a:srgbClr val="2274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8686800" y="5495544"/>
            <a:ext cx="22402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GITHUB = SHARED HOME</a:t>
            </a:r>
            <a:endParaRPr/>
          </a:p>
        </p:txBody>
      </p:sp>
      <p:pic>
        <p:nvPicPr>
          <p:cNvPr descr="image1.png" id="132" name="Google Shape;1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_github_analogy_no_fake_logo.png" id="133" name="Google Shape;13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" y="1645920"/>
            <a:ext cx="109728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/>
          <p:nvPr/>
        </p:nvSpPr>
        <p:spPr>
          <a:xfrm>
            <a:off x="914400" y="5440680"/>
            <a:ext cx="2057400" cy="384048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139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960120" y="5495544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= LOCAL HISTORY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8641080" y="5440680"/>
            <a:ext cx="2331720" cy="384048"/>
          </a:xfrm>
          <a:prstGeom prst="roundRect">
            <a:avLst>
              <a:gd fmla="val 16667" name="adj"/>
            </a:avLst>
          </a:prstGeom>
          <a:solidFill>
            <a:srgbClr val="DEEAF4"/>
          </a:solidFill>
          <a:ln cap="flat" cmpd="sng" w="13950">
            <a:solidFill>
              <a:srgbClr val="2274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8686800" y="5495544"/>
            <a:ext cx="22402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GITHUB = SHARED HOME</a:t>
            </a:r>
            <a:endParaRPr/>
          </a:p>
        </p:txBody>
      </p:sp>
      <p:pic>
        <p:nvPicPr>
          <p:cNvPr descr="image1.png"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Key Terms</a:t>
            </a:r>
            <a:endParaRPr/>
          </a:p>
        </p:txBody>
      </p:sp>
      <p:pic>
        <p:nvPicPr>
          <p:cNvPr descr="menu_book_gold_700.png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713232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1572768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69264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project folder git is tracking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4489704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DEEAF4"/>
          </a:solidFill>
          <a:ln cap="flat" cmpd="sng" w="22850">
            <a:solidFill>
              <a:srgbClr val="2274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5349240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4745736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saved snapshot at one point in time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8266175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228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ud_upload_gold_700.png" id="156" name="Google Shape;15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85632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9125711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Remote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522207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hosted copy, like GitHub</a:t>
            </a:r>
            <a:endParaRPr/>
          </a:p>
        </p:txBody>
      </p:sp>
      <p:pic>
        <p:nvPicPr>
          <p:cNvPr descr="image1.png" id="159" name="Google Shape;15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4326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/>
        </p:nvSpPr>
        <p:spPr>
          <a:xfrm>
            <a:off x="658368" y="65836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TERMS NAMED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58368" y="1417320"/>
            <a:ext cx="7955279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Code Along: Start Tracking a Project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58368" y="2487168"/>
            <a:ext cx="8046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A repository is just a folder git is watching — let’s actually make one.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9692640" y="1554480"/>
            <a:ext cx="1417320" cy="1417320"/>
          </a:xfrm>
          <a:prstGeom prst="ellipse">
            <a:avLst/>
          </a:prstGeom>
          <a:solidFill>
            <a:srgbClr val="A6C2B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rminal_forest_900.png" id="169" name="Google Shape;1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2680" y="1856231"/>
            <a:ext cx="749808" cy="74980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pic>
        <p:nvPicPr>
          <p:cNvPr descr="image5.png"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Start Tracking a Project</a:t>
            </a:r>
            <a:endParaRPr/>
          </a:p>
        </p:txBody>
      </p:sp>
      <p:pic>
        <p:nvPicPr>
          <p:cNvPr descr="terminal_forest_900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731520" y="1874519"/>
            <a:ext cx="10744200" cy="24688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024128" y="2103120"/>
            <a:ext cx="101589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060704" y="2587752"/>
            <a:ext cx="1008583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mkdir my-first-repo</a:t>
            </a:r>
            <a:b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cd my-first-repo</a:t>
            </a:r>
            <a:b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init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731520" y="4526280"/>
            <a:ext cx="10744200" cy="749808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15225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1005840" y="4663440"/>
            <a:ext cx="10195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Run this together. Then use </a:t>
            </a:r>
            <a:r>
              <a:rPr b="1" lang="en-US" sz="2100">
                <a:solidFill>
                  <a:srgbClr val="261F1D"/>
                </a:solidFill>
              </a:rPr>
              <a:t>ls -a</a:t>
            </a:r>
            <a:r>
              <a:rPr b="0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 to see the hidden .git folder.</a:t>
            </a:r>
            <a:endParaRPr/>
          </a:p>
        </p:txBody>
      </p:sp>
      <p:pic>
        <p:nvPicPr>
          <p:cNvPr descr="image1.png" id="185" name="Google Shape;18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Repo Needs a README</a:t>
            </a:r>
            <a:endParaRPr/>
          </a:p>
        </p:txBody>
      </p:sp>
      <p:pic>
        <p:nvPicPr>
          <p:cNvPr descr="file_blue_700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85800" y="1828800"/>
            <a:ext cx="5623560" cy="2926080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_blue_700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56" y="204825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1545336" y="2029968"/>
            <a:ext cx="4562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941832" y="2606040"/>
            <a:ext cx="5111400" cy="17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61F1D"/>
                </a:solidFill>
              </a:rPr>
              <a:t>README.md</a:t>
            </a: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 explains what this project is</a:t>
            </a:r>
            <a:endParaRPr b="0" sz="2200">
              <a:solidFill>
                <a:srgbClr val="261F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It’s the first thing anyone else reads</a:t>
            </a:r>
            <a:b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Write it before you forget why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6720840" y="1783080"/>
            <a:ext cx="4297680" cy="2971800"/>
          </a:xfrm>
          <a:prstGeom prst="roundRect">
            <a:avLst>
              <a:gd fmla="val 16667" name="adj"/>
            </a:avLst>
          </a:prstGeom>
          <a:solidFill>
            <a:srgbClr val="FFF6E4"/>
          </a:solidFill>
          <a:ln cap="flat" cmpd="sng" w="22850">
            <a:solidFill>
              <a:srgbClr val="2274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7178040" y="22402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74B5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178040" y="2834640"/>
            <a:ext cx="3291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261F1D"/>
                </a:solidFill>
                <a:latin typeface="Courier New"/>
                <a:ea typeface="Courier New"/>
                <a:cs typeface="Courier New"/>
                <a:sym typeface="Courier New"/>
              </a:rPr>
              <a:t># My First Repo</a:t>
            </a:r>
            <a:br>
              <a:rPr b="0" lang="en-US" sz="2200">
                <a:solidFill>
                  <a:srgbClr val="261F1D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lang="en-US" sz="2200">
                <a:solidFill>
                  <a:srgbClr val="261F1D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lang="en-US" sz="2200">
                <a:solidFill>
                  <a:srgbClr val="261F1D"/>
                </a:solidFill>
                <a:latin typeface="Courier New"/>
                <a:ea typeface="Courier New"/>
                <a:cs typeface="Courier New"/>
                <a:sym typeface="Courier New"/>
              </a:rPr>
              <a:t>This project is a place to practice Git and GitHub.</a:t>
            </a:r>
            <a:endParaRPr/>
          </a:p>
        </p:txBody>
      </p:sp>
      <p:pic>
        <p:nvPicPr>
          <p:cNvPr descr="image1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4326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/>
        </p:nvSpPr>
        <p:spPr>
          <a:xfrm>
            <a:off x="658368" y="65836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README WRITTEN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58368" y="1417320"/>
            <a:ext cx="7955279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Code Along: Stage and Check Status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58368" y="2487168"/>
            <a:ext cx="8046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Writing the file is one thing — git doesn’t know it exists until you tell it to.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9692640" y="1554480"/>
            <a:ext cx="1417320" cy="1417320"/>
          </a:xfrm>
          <a:prstGeom prst="ellipse">
            <a:avLst/>
          </a:prstGeom>
          <a:solidFill>
            <a:srgbClr val="A6C2B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rminal_forest_900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2680" y="1856231"/>
            <a:ext cx="749808" cy="74980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pic>
        <p:nvPicPr>
          <p:cNvPr descr="image5.png" id="213" name="Google Shape;2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Stage and Check Status</a:t>
            </a:r>
            <a:endParaRPr/>
          </a:p>
        </p:txBody>
      </p:sp>
      <p:pic>
        <p:nvPicPr>
          <p:cNvPr descr="terminal_forest_900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731520" y="1874519"/>
            <a:ext cx="10744200" cy="24688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1024128" y="2103120"/>
            <a:ext cx="101589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060704" y="2587752"/>
            <a:ext cx="1008583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add README.md</a:t>
            </a:r>
            <a:b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status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731520" y="4526280"/>
            <a:ext cx="10744200" cy="749808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15225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005840" y="4663440"/>
            <a:ext cx="10195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1F1D"/>
                </a:solidFill>
              </a:rPr>
              <a:t>git status</a:t>
            </a:r>
            <a:r>
              <a:rPr b="0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 is safe to run any time. Build the habit before and after each command.</a:t>
            </a:r>
            <a:endParaRPr/>
          </a:p>
        </p:txBody>
      </p:sp>
      <p:pic>
        <p:nvPicPr>
          <p:cNvPr descr="image1.png" id="227" name="Google Shape;2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Make Your First Commit</a:t>
            </a:r>
            <a:endParaRPr/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731520" y="1874519"/>
            <a:ext cx="10744200" cy="2011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1024128" y="2103120"/>
            <a:ext cx="101589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060704" y="2587752"/>
            <a:ext cx="1008583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commit -m "Add initial README"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731520" y="4069080"/>
            <a:ext cx="10744200" cy="749808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15225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1005840" y="4206240"/>
            <a:ext cx="10195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specific commit message tells future-you what changed.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777240" y="4590288"/>
            <a:ext cx="4892040" cy="1234440"/>
          </a:xfrm>
          <a:prstGeom prst="roundRect">
            <a:avLst>
              <a:gd fmla="val 16667" name="adj"/>
            </a:avLst>
          </a:prstGeom>
          <a:solidFill>
            <a:srgbClr val="F7DFDF"/>
          </a:solidFill>
          <a:ln cap="flat" cmpd="sng" w="22850">
            <a:solidFill>
              <a:srgbClr val="C9292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1005840" y="4736592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Not this:  </a:t>
            </a: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“update”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6492240" y="4590288"/>
            <a:ext cx="4892040" cy="1234440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6720840" y="4736592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Do this:  </a:t>
            </a: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“Add initial README”</a:t>
            </a:r>
            <a:endParaRPr/>
          </a:p>
        </p:txBody>
      </p:sp>
      <p:pic>
        <p:nvPicPr>
          <p:cNvPr descr="image1.png"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See Exactly What Changed</a:t>
            </a:r>
            <a:endParaRPr/>
          </a:p>
        </p:txBody>
      </p:sp>
      <p:pic>
        <p:nvPicPr>
          <p:cNvPr descr="git_branch_blue_700.png" id="252" name="Google Shape;2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731520" y="1874519"/>
            <a:ext cx="10744200" cy="24688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1024128" y="2103120"/>
            <a:ext cx="101589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060704" y="2587752"/>
            <a:ext cx="1008583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echo "More notes coming soon." &gt;&gt; README.md</a:t>
            </a:r>
            <a:b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diff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731520" y="4526280"/>
            <a:ext cx="10744200" cy="749808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15225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1005840" y="4663440"/>
            <a:ext cx="10195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1F1D"/>
                </a:solidFill>
              </a:rPr>
              <a:t>git diff </a:t>
            </a:r>
            <a:r>
              <a:rPr b="0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shows the actual line-level changes before the next commit.</a:t>
            </a:r>
            <a:endParaRPr/>
          </a:p>
        </p:txBody>
      </p:sp>
      <p:pic>
        <p:nvPicPr>
          <p:cNvPr descr="image1.png" id="259" name="Google Shape;2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4326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/>
        </p:nvSpPr>
        <p:spPr>
          <a:xfrm>
            <a:off x="658368" y="65836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YOUR LOCAL REPO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58368" y="1417320"/>
            <a:ext cx="7955279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Connecting to GitHub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58368" y="2487168"/>
            <a:ext cx="8046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Everything so far has lived only on your machine — nothing’s been shared with anyone yet.</a:t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9692640" y="1554480"/>
            <a:ext cx="1417320" cy="1417320"/>
          </a:xfrm>
          <a:prstGeom prst="ellipse">
            <a:avLst/>
          </a:prstGeom>
          <a:solidFill>
            <a:srgbClr val="A6C2B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ud_upload_gold_700.png" id="269" name="Google Shape;2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2680" y="1856231"/>
            <a:ext cx="749808" cy="74980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pic>
        <p:nvPicPr>
          <p:cNvPr descr="image5.png" id="271" name="Google Shape;2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Making It Public: GitHub</a:t>
            </a:r>
            <a:endParaRPr/>
          </a:p>
        </p:txBody>
      </p:sp>
      <p:pic>
        <p:nvPicPr>
          <p:cNvPr descr="github_forest_900.png" id="278" name="Google Shape;2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713232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ithub_forest_900.png" id="281" name="Google Shape;2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1572768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969264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new, empty repository on github.com</a:t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4489704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DEEAF4"/>
          </a:solidFill>
          <a:ln cap="flat" cmpd="sng" w="22850">
            <a:solidFill>
              <a:srgbClr val="2274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ud_upload_gold_700.png" id="285" name="Google Shape;28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5349240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4745736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the remote URL it gives you</a:t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8266175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228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_blue_700.png" id="289" name="Google Shape;28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5632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9125711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Skip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8522207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“Add a README” — yours exists</a:t>
            </a:r>
            <a:endParaRPr/>
          </a:p>
        </p:txBody>
      </p:sp>
      <p:pic>
        <p:nvPicPr>
          <p:cNvPr descr="image1.png" id="292" name="Google Shape;29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4326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/>
          <p:nvPr/>
        </p:nvSpPr>
        <p:spPr>
          <a:xfrm>
            <a:off x="658368" y="65836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REMOTE CREATED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658368" y="1417320"/>
            <a:ext cx="7955279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Code Along: Link and Push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658368" y="2487168"/>
            <a:ext cx="8046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An empty GitHub repo and your local commits still don’t know about each other yet — this connects them.</a:t>
            </a: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9692640" y="1554480"/>
            <a:ext cx="1417320" cy="1417320"/>
          </a:xfrm>
          <a:prstGeom prst="ellipse">
            <a:avLst/>
          </a:prstGeom>
          <a:solidFill>
            <a:srgbClr val="A6C2B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pload_forest_900.png" id="302" name="Google Shape;30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2680" y="1856231"/>
            <a:ext cx="749808" cy="74980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pic>
        <p:nvPicPr>
          <p:cNvPr descr="image5.png" id="304" name="Google Shape;30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Link and Push</a:t>
            </a:r>
            <a:endParaRPr/>
          </a:p>
        </p:txBody>
      </p:sp>
      <p:pic>
        <p:nvPicPr>
          <p:cNvPr descr="upload_forest_900.png" id="311" name="Google Shape;3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313" name="Google Shape;313;p27"/>
          <p:cNvSpPr/>
          <p:nvPr/>
        </p:nvSpPr>
        <p:spPr>
          <a:xfrm>
            <a:off x="731520" y="1874519"/>
            <a:ext cx="10744200" cy="24688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 txBox="1"/>
          <p:nvPr/>
        </p:nvSpPr>
        <p:spPr>
          <a:xfrm>
            <a:off x="1024128" y="2103120"/>
            <a:ext cx="101589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1060704" y="2587752"/>
            <a:ext cx="1008583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remote add origin &lt;your-repo-url&gt;</a:t>
            </a:r>
            <a:b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push -u origin main</a:t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731520" y="4526280"/>
            <a:ext cx="10744200" cy="749808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15225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 txBox="1"/>
          <p:nvPr/>
        </p:nvSpPr>
        <p:spPr>
          <a:xfrm>
            <a:off x="1005840" y="4663440"/>
            <a:ext cx="10195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This is the moment your local work becomes visible on GitHub.</a:t>
            </a:r>
            <a:endParaRPr/>
          </a:p>
        </p:txBody>
      </p:sp>
      <p:pic>
        <p:nvPicPr>
          <p:cNvPr descr="image1.png" id="318" name="Google Shape;3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See Your Own History</a:t>
            </a:r>
            <a:endParaRPr/>
          </a:p>
        </p:txBody>
      </p:sp>
      <p:pic>
        <p:nvPicPr>
          <p:cNvPr descr="git_branch_blue_700.png" id="325" name="Google Shape;32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8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327" name="Google Shape;327;p28"/>
          <p:cNvSpPr/>
          <p:nvPr/>
        </p:nvSpPr>
        <p:spPr>
          <a:xfrm>
            <a:off x="731520" y="1874519"/>
            <a:ext cx="10744200" cy="2011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1024128" y="2103120"/>
            <a:ext cx="101589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1060704" y="2587752"/>
            <a:ext cx="1008583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log --oneline</a:t>
            </a:r>
            <a:endParaRPr/>
          </a:p>
        </p:txBody>
      </p:sp>
      <p:sp>
        <p:nvSpPr>
          <p:cNvPr id="330" name="Google Shape;330;p28"/>
          <p:cNvSpPr/>
          <p:nvPr/>
        </p:nvSpPr>
        <p:spPr>
          <a:xfrm>
            <a:off x="731520" y="4069080"/>
            <a:ext cx="10744200" cy="749808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15225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1005840" y="4206240"/>
            <a:ext cx="10195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The payoff: a readable history you built yourself.</a:t>
            </a:r>
            <a:endParaRPr/>
          </a:p>
        </p:txBody>
      </p:sp>
      <p:sp>
        <p:nvSpPr>
          <p:cNvPr id="332" name="Google Shape;332;p28"/>
          <p:cNvSpPr/>
          <p:nvPr/>
        </p:nvSpPr>
        <p:spPr>
          <a:xfrm>
            <a:off x="1097280" y="4709160"/>
            <a:ext cx="9966960" cy="914400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228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 txBox="1"/>
          <p:nvPr/>
        </p:nvSpPr>
        <p:spPr>
          <a:xfrm>
            <a:off x="1463040" y="5010912"/>
            <a:ext cx="9235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good log is a project timeline, not a mystery.</a:t>
            </a:r>
            <a:endParaRPr/>
          </a:p>
        </p:txBody>
      </p:sp>
      <p:pic>
        <p:nvPicPr>
          <p:cNvPr descr="image1.png" id="334" name="Google Shape;33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Common First-Day Errors</a:t>
            </a:r>
            <a:endParaRPr/>
          </a:p>
        </p:txBody>
      </p:sp>
      <p:pic>
        <p:nvPicPr>
          <p:cNvPr descr="error_red_700.png" id="341" name="Google Shape;34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9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343" name="Google Shape;343;p29"/>
          <p:cNvSpPr/>
          <p:nvPr/>
        </p:nvSpPr>
        <p:spPr>
          <a:xfrm>
            <a:off x="713232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F7DFDF"/>
          </a:solidFill>
          <a:ln cap="flat" cmpd="sng" w="22850">
            <a:solidFill>
              <a:srgbClr val="C9292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4" name="Google Shape;34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9"/>
          <p:cNvSpPr txBox="1"/>
          <p:nvPr/>
        </p:nvSpPr>
        <p:spPr>
          <a:xfrm>
            <a:off x="1572768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"not a git repository"</a:t>
            </a:r>
            <a:endParaRPr/>
          </a:p>
        </p:txBody>
      </p:sp>
      <p:sp>
        <p:nvSpPr>
          <p:cNvPr id="346" name="Google Shape;346;p29"/>
          <p:cNvSpPr txBox="1"/>
          <p:nvPr/>
        </p:nvSpPr>
        <p:spPr>
          <a:xfrm>
            <a:off x="969289" y="2699510"/>
            <a:ext cx="28254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You’re in the wrong folder</a:t>
            </a:r>
            <a:endParaRPr/>
          </a:p>
        </p:txBody>
      </p:sp>
      <p:sp>
        <p:nvSpPr>
          <p:cNvPr id="347" name="Google Shape;347;p29"/>
          <p:cNvSpPr/>
          <p:nvPr/>
        </p:nvSpPr>
        <p:spPr>
          <a:xfrm>
            <a:off x="4489704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DEEAF4"/>
          </a:solidFill>
          <a:ln cap="flat" cmpd="sng" w="22850">
            <a:solidFill>
              <a:srgbClr val="2274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8" name="Google Shape;34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9"/>
          <p:cNvSpPr txBox="1"/>
          <p:nvPr/>
        </p:nvSpPr>
        <p:spPr>
          <a:xfrm>
            <a:off x="5349240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"nothing to commit"</a:t>
            </a:r>
            <a:endParaRPr/>
          </a:p>
        </p:txBody>
      </p:sp>
      <p:sp>
        <p:nvSpPr>
          <p:cNvPr id="350" name="Google Shape;350;p29"/>
          <p:cNvSpPr txBox="1"/>
          <p:nvPr/>
        </p:nvSpPr>
        <p:spPr>
          <a:xfrm>
            <a:off x="4745749" y="2699510"/>
            <a:ext cx="28254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You probably forgot git add</a:t>
            </a:r>
            <a:endParaRPr/>
          </a:p>
        </p:txBody>
      </p:sp>
      <p:sp>
        <p:nvSpPr>
          <p:cNvPr id="351" name="Google Shape;351;p29"/>
          <p:cNvSpPr/>
          <p:nvPr/>
        </p:nvSpPr>
        <p:spPr>
          <a:xfrm>
            <a:off x="8266175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228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ithub_forest_900.png" id="352" name="Google Shape;352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85632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9"/>
          <p:cNvSpPr txBox="1"/>
          <p:nvPr/>
        </p:nvSpPr>
        <p:spPr>
          <a:xfrm>
            <a:off x="9125711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Password prompt</a:t>
            </a:r>
            <a:endParaRPr/>
          </a:p>
        </p:txBody>
      </p:sp>
      <p:sp>
        <p:nvSpPr>
          <p:cNvPr id="354" name="Google Shape;354;p29"/>
          <p:cNvSpPr txBox="1"/>
          <p:nvPr/>
        </p:nvSpPr>
        <p:spPr>
          <a:xfrm>
            <a:off x="8522207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GitHub wants a token</a:t>
            </a:r>
            <a:endParaRPr/>
          </a:p>
        </p:txBody>
      </p:sp>
      <p:pic>
        <p:nvPicPr>
          <p:cNvPr descr="image1.png" id="355" name="Google Shape;35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/>
          <p:cNvSpPr/>
          <p:nvPr/>
        </p:nvSpPr>
        <p:spPr>
          <a:xfrm>
            <a:off x="594350" y="347476"/>
            <a:ext cx="2194500" cy="502800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139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0"/>
          <p:cNvSpPr txBox="1"/>
          <p:nvPr/>
        </p:nvSpPr>
        <p:spPr>
          <a:xfrm>
            <a:off x="640075" y="402315"/>
            <a:ext cx="2103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CHECK FOR UNDERSTANDING</a:t>
            </a:r>
            <a:endParaRPr/>
          </a:p>
        </p:txBody>
      </p:sp>
      <p:sp>
        <p:nvSpPr>
          <p:cNvPr id="363" name="Google Shape;363;p30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Which command tells you what’s actually going on?</a:t>
            </a:r>
            <a:endParaRPr/>
          </a:p>
        </p:txBody>
      </p:sp>
      <p:pic>
        <p:nvPicPr>
          <p:cNvPr descr="terminal_forest_900.png" id="364" name="Google Shape;36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0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366" name="Google Shape;366;p30"/>
          <p:cNvSpPr txBox="1"/>
          <p:nvPr/>
        </p:nvSpPr>
        <p:spPr>
          <a:xfrm>
            <a:off x="731520" y="162763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You just ran a command and nothing seemed to happen.</a:t>
            </a:r>
            <a:endParaRPr/>
          </a:p>
        </p:txBody>
      </p:sp>
      <p:sp>
        <p:nvSpPr>
          <p:cNvPr id="367" name="Google Shape;367;p30"/>
          <p:cNvSpPr/>
          <p:nvPr/>
        </p:nvSpPr>
        <p:spPr>
          <a:xfrm>
            <a:off x="713232" y="2468880"/>
            <a:ext cx="3337560" cy="2057400"/>
          </a:xfrm>
          <a:prstGeom prst="roundRect">
            <a:avLst>
              <a:gd fmla="val 16667" name="adj"/>
            </a:avLst>
          </a:prstGeom>
          <a:solidFill>
            <a:srgbClr val="FFF6E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8" name="Google Shape;36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268833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0"/>
          <p:cNvSpPr txBox="1"/>
          <p:nvPr/>
        </p:nvSpPr>
        <p:spPr>
          <a:xfrm>
            <a:off x="1572768" y="267004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70" name="Google Shape;370;p30"/>
          <p:cNvSpPr txBox="1"/>
          <p:nvPr/>
        </p:nvSpPr>
        <p:spPr>
          <a:xfrm>
            <a:off x="969264" y="3246120"/>
            <a:ext cx="2825496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init</a:t>
            </a:r>
            <a:endParaRPr/>
          </a:p>
        </p:txBody>
      </p:sp>
      <p:sp>
        <p:nvSpPr>
          <p:cNvPr id="371" name="Google Shape;371;p30"/>
          <p:cNvSpPr/>
          <p:nvPr/>
        </p:nvSpPr>
        <p:spPr>
          <a:xfrm>
            <a:off x="4489704" y="2468880"/>
            <a:ext cx="3337560" cy="2057400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_forest_900.png" id="372" name="Google Shape;37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268833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0"/>
          <p:cNvSpPr txBox="1"/>
          <p:nvPr/>
        </p:nvSpPr>
        <p:spPr>
          <a:xfrm>
            <a:off x="5349240" y="267004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74" name="Google Shape;374;p30"/>
          <p:cNvSpPr txBox="1"/>
          <p:nvPr/>
        </p:nvSpPr>
        <p:spPr>
          <a:xfrm>
            <a:off x="4745736" y="3246120"/>
            <a:ext cx="2825496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status</a:t>
            </a:r>
            <a:endParaRPr/>
          </a:p>
        </p:txBody>
      </p:sp>
      <p:sp>
        <p:nvSpPr>
          <p:cNvPr id="375" name="Google Shape;375;p30"/>
          <p:cNvSpPr/>
          <p:nvPr/>
        </p:nvSpPr>
        <p:spPr>
          <a:xfrm>
            <a:off x="8266175" y="2468880"/>
            <a:ext cx="3337560" cy="2057400"/>
          </a:xfrm>
          <a:prstGeom prst="roundRect">
            <a:avLst>
              <a:gd fmla="val 16667" name="adj"/>
            </a:avLst>
          </a:prstGeom>
          <a:solidFill>
            <a:srgbClr val="DEEAF4"/>
          </a:solidFill>
          <a:ln cap="flat" cmpd="sng" w="22850">
            <a:solidFill>
              <a:srgbClr val="2274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pload_forest_900.png" id="376" name="Google Shape;37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85632" y="268833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0"/>
          <p:cNvSpPr txBox="1"/>
          <p:nvPr/>
        </p:nvSpPr>
        <p:spPr>
          <a:xfrm>
            <a:off x="9125711" y="267004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8522207" y="3246120"/>
            <a:ext cx="2825496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push</a:t>
            </a:r>
            <a:endParaRPr/>
          </a:p>
        </p:txBody>
      </p:sp>
      <p:pic>
        <p:nvPicPr>
          <p:cNvPr descr="image1.png" id="379" name="Google Shape;37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>
            <a:off x="594360" y="347472"/>
            <a:ext cx="2194560" cy="384048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139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1"/>
          <p:cNvSpPr txBox="1"/>
          <p:nvPr/>
        </p:nvSpPr>
        <p:spPr>
          <a:xfrm>
            <a:off x="640080" y="40233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ANSWER KEY</a:t>
            </a:r>
            <a:endParaRPr/>
          </a:p>
        </p:txBody>
      </p:sp>
      <p:sp>
        <p:nvSpPr>
          <p:cNvPr id="387" name="Google Shape;387;p31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When Stuck, Check Status</a:t>
            </a:r>
            <a:endParaRPr/>
          </a:p>
        </p:txBody>
      </p:sp>
      <p:pic>
        <p:nvPicPr>
          <p:cNvPr descr="check_forest_900.png" id="388" name="Google Shape;38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1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390" name="Google Shape;390;p31"/>
          <p:cNvSpPr/>
          <p:nvPr/>
        </p:nvSpPr>
        <p:spPr>
          <a:xfrm>
            <a:off x="868680" y="1828800"/>
            <a:ext cx="10378440" cy="2834640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540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_forest_900.png" id="391" name="Google Shape;39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23317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1"/>
          <p:cNvSpPr txBox="1"/>
          <p:nvPr/>
        </p:nvSpPr>
        <p:spPr>
          <a:xfrm>
            <a:off x="2057400" y="226771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4326"/>
                </a:solidFill>
                <a:latin typeface="Arial"/>
                <a:ea typeface="Arial"/>
                <a:cs typeface="Arial"/>
                <a:sym typeface="Arial"/>
              </a:rPr>
              <a:t>git status</a:t>
            </a:r>
            <a:endParaRPr/>
          </a:p>
        </p:txBody>
      </p:sp>
      <p:sp>
        <p:nvSpPr>
          <p:cNvPr id="393" name="Google Shape;393;p31"/>
          <p:cNvSpPr txBox="1"/>
          <p:nvPr/>
        </p:nvSpPr>
        <p:spPr>
          <a:xfrm>
            <a:off x="2057400" y="2999232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It’s safe to run and tells you the current state: staged files, unstaged changes, and what branch you’re on.</a:t>
            </a:r>
            <a:endParaRPr/>
          </a:p>
        </p:txBody>
      </p:sp>
      <p:pic>
        <p:nvPicPr>
          <p:cNvPr descr="image1.png" id="394" name="Google Shape;39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"/>
          <p:cNvSpPr/>
          <p:nvPr/>
        </p:nvSpPr>
        <p:spPr>
          <a:xfrm>
            <a:off x="594360" y="347472"/>
            <a:ext cx="2194560" cy="384048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139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2"/>
          <p:cNvSpPr txBox="1"/>
          <p:nvPr/>
        </p:nvSpPr>
        <p:spPr>
          <a:xfrm>
            <a:off x="640080" y="40233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ADD TO THE BOARD</a:t>
            </a:r>
            <a:endParaRPr/>
          </a:p>
        </p:txBody>
      </p:sp>
      <p:sp>
        <p:nvSpPr>
          <p:cNvPr id="402" name="Google Shape;402;p32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Put the Git Steps in Order</a:t>
            </a:r>
            <a:endParaRPr/>
          </a:p>
        </p:txBody>
      </p:sp>
      <p:pic>
        <p:nvPicPr>
          <p:cNvPr descr="task_list_forest_900.png" id="403" name="Google Shape;40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2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405" name="Google Shape;405;p32"/>
          <p:cNvSpPr/>
          <p:nvPr/>
        </p:nvSpPr>
        <p:spPr>
          <a:xfrm>
            <a:off x="685800" y="1874519"/>
            <a:ext cx="2514600" cy="2194560"/>
          </a:xfrm>
          <a:prstGeom prst="roundRect">
            <a:avLst>
              <a:gd fmla="val 16667" name="adj"/>
            </a:avLst>
          </a:prstGeom>
          <a:solidFill>
            <a:srgbClr val="DEEAF4"/>
          </a:solidFill>
          <a:ln cap="flat" cmpd="sng" w="22850">
            <a:solidFill>
              <a:srgbClr val="2274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ud_upload_gold_700.png" id="406" name="Google Shape;40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2"/>
          <p:cNvSpPr txBox="1"/>
          <p:nvPr/>
        </p:nvSpPr>
        <p:spPr>
          <a:xfrm>
            <a:off x="1545336" y="2075688"/>
            <a:ext cx="14538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08" name="Google Shape;408;p32"/>
          <p:cNvSpPr txBox="1"/>
          <p:nvPr/>
        </p:nvSpPr>
        <p:spPr>
          <a:xfrm>
            <a:off x="941832" y="2651760"/>
            <a:ext cx="2002536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push</a:t>
            </a:r>
            <a:endParaRPr/>
          </a:p>
        </p:txBody>
      </p:sp>
      <p:sp>
        <p:nvSpPr>
          <p:cNvPr id="409" name="Google Shape;409;p32"/>
          <p:cNvSpPr/>
          <p:nvPr/>
        </p:nvSpPr>
        <p:spPr>
          <a:xfrm>
            <a:off x="3547872" y="1874519"/>
            <a:ext cx="2514600" cy="2194560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228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0" name="Google Shape;41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328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2"/>
          <p:cNvSpPr txBox="1"/>
          <p:nvPr/>
        </p:nvSpPr>
        <p:spPr>
          <a:xfrm>
            <a:off x="4407408" y="2075688"/>
            <a:ext cx="14538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12" name="Google Shape;412;p32"/>
          <p:cNvSpPr txBox="1"/>
          <p:nvPr/>
        </p:nvSpPr>
        <p:spPr>
          <a:xfrm>
            <a:off x="3803904" y="2651760"/>
            <a:ext cx="2002536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commit</a:t>
            </a:r>
            <a:endParaRPr/>
          </a:p>
        </p:txBody>
      </p:sp>
      <p:sp>
        <p:nvSpPr>
          <p:cNvPr id="413" name="Google Shape;413;p32"/>
          <p:cNvSpPr/>
          <p:nvPr/>
        </p:nvSpPr>
        <p:spPr>
          <a:xfrm>
            <a:off x="6409944" y="1874519"/>
            <a:ext cx="2514600" cy="2194560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_blue_700.png" id="414" name="Google Shape;414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2"/>
          <p:cNvSpPr txBox="1"/>
          <p:nvPr/>
        </p:nvSpPr>
        <p:spPr>
          <a:xfrm>
            <a:off x="7269479" y="2075688"/>
            <a:ext cx="14538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416" name="Google Shape;416;p32"/>
          <p:cNvSpPr txBox="1"/>
          <p:nvPr/>
        </p:nvSpPr>
        <p:spPr>
          <a:xfrm>
            <a:off x="6665976" y="2651760"/>
            <a:ext cx="2002536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add</a:t>
            </a:r>
            <a:endParaRPr/>
          </a:p>
        </p:txBody>
      </p:sp>
      <p:sp>
        <p:nvSpPr>
          <p:cNvPr id="417" name="Google Shape;417;p32"/>
          <p:cNvSpPr/>
          <p:nvPr/>
        </p:nvSpPr>
        <p:spPr>
          <a:xfrm>
            <a:off x="9272016" y="1874519"/>
            <a:ext cx="2514600" cy="2194560"/>
          </a:xfrm>
          <a:prstGeom prst="roundRect">
            <a:avLst>
              <a:gd fmla="val 16667" name="adj"/>
            </a:avLst>
          </a:prstGeom>
          <a:solidFill>
            <a:srgbClr val="FFF6E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8" name="Google Shape;418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91472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2"/>
          <p:cNvSpPr txBox="1"/>
          <p:nvPr/>
        </p:nvSpPr>
        <p:spPr>
          <a:xfrm>
            <a:off x="10131552" y="2075688"/>
            <a:ext cx="14538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420" name="Google Shape;420;p32"/>
          <p:cNvSpPr txBox="1"/>
          <p:nvPr/>
        </p:nvSpPr>
        <p:spPr>
          <a:xfrm>
            <a:off x="9528048" y="2651760"/>
            <a:ext cx="2002536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init</a:t>
            </a:r>
            <a:endParaRPr/>
          </a:p>
        </p:txBody>
      </p:sp>
      <p:sp>
        <p:nvSpPr>
          <p:cNvPr id="421" name="Google Shape;421;p32"/>
          <p:cNvSpPr txBox="1"/>
          <p:nvPr/>
        </p:nvSpPr>
        <p:spPr>
          <a:xfrm>
            <a:off x="822960" y="47091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Post them in the order you’d actually run them.</a:t>
            </a:r>
            <a:endParaRPr/>
          </a:p>
        </p:txBody>
      </p:sp>
      <p:pic>
        <p:nvPicPr>
          <p:cNvPr descr="image1.png" id="422" name="Google Shape;422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3"/>
          <p:cNvSpPr/>
          <p:nvPr/>
        </p:nvSpPr>
        <p:spPr>
          <a:xfrm>
            <a:off x="594350" y="347476"/>
            <a:ext cx="2194500" cy="502800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139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3"/>
          <p:cNvSpPr txBox="1"/>
          <p:nvPr/>
        </p:nvSpPr>
        <p:spPr>
          <a:xfrm>
            <a:off x="640080" y="40233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CHECK FOR UNDERSTANDING</a:t>
            </a:r>
            <a:endParaRPr/>
          </a:p>
        </p:txBody>
      </p:sp>
      <p:sp>
        <p:nvSpPr>
          <p:cNvPr id="430" name="Google Shape;430;p33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Rewrite this commit message: "update"</a:t>
            </a:r>
            <a:endParaRPr/>
          </a:p>
        </p:txBody>
      </p:sp>
      <p:pic>
        <p:nvPicPr>
          <p:cNvPr descr="image.png" id="431" name="Google Shape;4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3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433" name="Google Shape;433;p33"/>
          <p:cNvSpPr/>
          <p:nvPr/>
        </p:nvSpPr>
        <p:spPr>
          <a:xfrm>
            <a:off x="685800" y="1965960"/>
            <a:ext cx="3063240" cy="2331720"/>
          </a:xfrm>
          <a:prstGeom prst="roundRect">
            <a:avLst>
              <a:gd fmla="val 16667" name="adj"/>
            </a:avLst>
          </a:prstGeom>
          <a:solidFill>
            <a:srgbClr val="F7DFDF"/>
          </a:solidFill>
          <a:ln cap="flat" cmpd="sng" w="22850">
            <a:solidFill>
              <a:srgbClr val="C9292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rror_red_700.png" id="434" name="Google Shape;43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" y="2185415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3"/>
          <p:cNvSpPr txBox="1"/>
          <p:nvPr/>
        </p:nvSpPr>
        <p:spPr>
          <a:xfrm>
            <a:off x="1545336" y="2167128"/>
            <a:ext cx="20025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36" name="Google Shape;436;p33"/>
          <p:cNvSpPr txBox="1"/>
          <p:nvPr/>
        </p:nvSpPr>
        <p:spPr>
          <a:xfrm>
            <a:off x="941832" y="2743200"/>
            <a:ext cx="2551176" cy="1399031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"stuff"</a:t>
            </a:r>
            <a:endParaRPr/>
          </a:p>
        </p:txBody>
      </p:sp>
      <p:sp>
        <p:nvSpPr>
          <p:cNvPr id="437" name="Google Shape;437;p33"/>
          <p:cNvSpPr/>
          <p:nvPr/>
        </p:nvSpPr>
        <p:spPr>
          <a:xfrm>
            <a:off x="4160520" y="1965960"/>
            <a:ext cx="3291840" cy="2331720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228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rror_red_700.png" id="438" name="Google Shape;43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9976" y="2185415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3"/>
          <p:cNvSpPr txBox="1"/>
          <p:nvPr/>
        </p:nvSpPr>
        <p:spPr>
          <a:xfrm>
            <a:off x="5020056" y="2167128"/>
            <a:ext cx="2231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40" name="Google Shape;440;p33"/>
          <p:cNvSpPr txBox="1"/>
          <p:nvPr/>
        </p:nvSpPr>
        <p:spPr>
          <a:xfrm>
            <a:off x="4416552" y="2743200"/>
            <a:ext cx="2779776" cy="1399031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"final update 2"</a:t>
            </a:r>
            <a:endParaRPr/>
          </a:p>
        </p:txBody>
      </p:sp>
      <p:sp>
        <p:nvSpPr>
          <p:cNvPr id="441" name="Google Shape;441;p33"/>
          <p:cNvSpPr/>
          <p:nvPr/>
        </p:nvSpPr>
        <p:spPr>
          <a:xfrm>
            <a:off x="7818120" y="1965960"/>
            <a:ext cx="4160520" cy="2331720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_forest_900.png" id="442" name="Google Shape;44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7576" y="2185415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3"/>
          <p:cNvSpPr txBox="1"/>
          <p:nvPr/>
        </p:nvSpPr>
        <p:spPr>
          <a:xfrm>
            <a:off x="8677656" y="2167128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444" name="Google Shape;444;p33"/>
          <p:cNvSpPr txBox="1"/>
          <p:nvPr/>
        </p:nvSpPr>
        <p:spPr>
          <a:xfrm>
            <a:off x="8074152" y="2743200"/>
            <a:ext cx="3648456" cy="1399031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"Fix typo in README installation steps"</a:t>
            </a:r>
            <a:endParaRPr/>
          </a:p>
        </p:txBody>
      </p:sp>
      <p:pic>
        <p:nvPicPr>
          <p:cNvPr descr="image1.png" id="445" name="Google Shape;44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4"/>
          <p:cNvSpPr/>
          <p:nvPr/>
        </p:nvSpPr>
        <p:spPr>
          <a:xfrm>
            <a:off x="594360" y="347472"/>
            <a:ext cx="2194560" cy="384048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139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640080" y="40233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ANSWER KEY</a:t>
            </a:r>
            <a:endParaRPr/>
          </a:p>
        </p:txBody>
      </p:sp>
      <p:sp>
        <p:nvSpPr>
          <p:cNvPr id="453" name="Google Shape;453;p34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Rewrite a Bad Commit Message</a:t>
            </a:r>
            <a:endParaRPr/>
          </a:p>
        </p:txBody>
      </p:sp>
      <p:pic>
        <p:nvPicPr>
          <p:cNvPr descr="check_forest_900.png" id="454" name="Google Shape;45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4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456" name="Google Shape;456;p34"/>
          <p:cNvSpPr/>
          <p:nvPr/>
        </p:nvSpPr>
        <p:spPr>
          <a:xfrm>
            <a:off x="822960" y="1828800"/>
            <a:ext cx="10561320" cy="2743200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540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4"/>
          <p:cNvSpPr txBox="1"/>
          <p:nvPr/>
        </p:nvSpPr>
        <p:spPr>
          <a:xfrm>
            <a:off x="1143000" y="2194560"/>
            <a:ext cx="9921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64326"/>
                </a:solidFill>
                <a:latin typeface="Arial"/>
                <a:ea typeface="Arial"/>
                <a:cs typeface="Arial"/>
                <a:sym typeface="Arial"/>
              </a:rPr>
              <a:t>"Fix typo in README installation steps"</a:t>
            </a:r>
            <a:endParaRPr/>
          </a:p>
        </p:txBody>
      </p:sp>
      <p:sp>
        <p:nvSpPr>
          <p:cNvPr id="458" name="Google Shape;458;p34"/>
          <p:cNvSpPr txBox="1"/>
          <p:nvPr/>
        </p:nvSpPr>
        <p:spPr>
          <a:xfrm>
            <a:off x="1325880" y="3063240"/>
            <a:ext cx="9555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good message names the specific what. Someone reading the log later should understand the change without opening the diff.</a:t>
            </a:r>
            <a:endParaRPr/>
          </a:p>
        </p:txBody>
      </p:sp>
      <p:pic>
        <p:nvPicPr>
          <p:cNvPr descr="image1.png" id="459" name="Google Shape;45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Key Terms — Recap</a:t>
            </a:r>
            <a:endParaRPr/>
          </a:p>
        </p:txBody>
      </p:sp>
      <p:pic>
        <p:nvPicPr>
          <p:cNvPr descr="menu_book_gold_700.png" id="466" name="Google Shape;46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5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468" name="Google Shape;468;p35"/>
          <p:cNvSpPr/>
          <p:nvPr/>
        </p:nvSpPr>
        <p:spPr>
          <a:xfrm>
            <a:off x="777240" y="1737360"/>
            <a:ext cx="10561320" cy="1060704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5"/>
          <p:cNvSpPr txBox="1"/>
          <p:nvPr/>
        </p:nvSpPr>
        <p:spPr>
          <a:xfrm>
            <a:off x="1078992" y="2002536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</p:txBody>
      </p:sp>
      <p:sp>
        <p:nvSpPr>
          <p:cNvPr id="470" name="Google Shape;470;p35"/>
          <p:cNvSpPr txBox="1"/>
          <p:nvPr/>
        </p:nvSpPr>
        <p:spPr>
          <a:xfrm>
            <a:off x="3520440" y="1956815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project folder git is tracking the history of</a:t>
            </a:r>
            <a:endParaRPr/>
          </a:p>
        </p:txBody>
      </p:sp>
      <p:sp>
        <p:nvSpPr>
          <p:cNvPr id="471" name="Google Shape;471;p35"/>
          <p:cNvSpPr/>
          <p:nvPr/>
        </p:nvSpPr>
        <p:spPr>
          <a:xfrm>
            <a:off x="777240" y="3090672"/>
            <a:ext cx="10561320" cy="1060704"/>
          </a:xfrm>
          <a:prstGeom prst="roundRect">
            <a:avLst>
              <a:gd fmla="val 16667" name="adj"/>
            </a:avLst>
          </a:prstGeom>
          <a:solidFill>
            <a:srgbClr val="DEEAF4"/>
          </a:solidFill>
          <a:ln cap="flat" cmpd="sng" w="22850">
            <a:solidFill>
              <a:srgbClr val="2274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5"/>
          <p:cNvSpPr txBox="1"/>
          <p:nvPr/>
        </p:nvSpPr>
        <p:spPr>
          <a:xfrm>
            <a:off x="1078992" y="335584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/>
          </a:p>
        </p:txBody>
      </p:sp>
      <p:sp>
        <p:nvSpPr>
          <p:cNvPr id="473" name="Google Shape;473;p35"/>
          <p:cNvSpPr txBox="1"/>
          <p:nvPr/>
        </p:nvSpPr>
        <p:spPr>
          <a:xfrm>
            <a:off x="3520440" y="331012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saved snapshot of your project at one point in time</a:t>
            </a:r>
            <a:endParaRPr/>
          </a:p>
        </p:txBody>
      </p:sp>
      <p:sp>
        <p:nvSpPr>
          <p:cNvPr id="474" name="Google Shape;474;p35"/>
          <p:cNvSpPr/>
          <p:nvPr/>
        </p:nvSpPr>
        <p:spPr>
          <a:xfrm>
            <a:off x="777240" y="4443983"/>
            <a:ext cx="10561320" cy="1060704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228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5"/>
          <p:cNvSpPr txBox="1"/>
          <p:nvPr/>
        </p:nvSpPr>
        <p:spPr>
          <a:xfrm>
            <a:off x="1078992" y="4709159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Remote</a:t>
            </a:r>
            <a:endParaRPr/>
          </a:p>
        </p:txBody>
      </p:sp>
      <p:sp>
        <p:nvSpPr>
          <p:cNvPr id="476" name="Google Shape;476;p35"/>
          <p:cNvSpPr txBox="1"/>
          <p:nvPr/>
        </p:nvSpPr>
        <p:spPr>
          <a:xfrm>
            <a:off x="3520440" y="46634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copy of your repository hosted somewhere else, like GitHub</a:t>
            </a:r>
            <a:endParaRPr/>
          </a:p>
        </p:txBody>
      </p:sp>
      <p:pic>
        <p:nvPicPr>
          <p:cNvPr descr="image1.png" id="477" name="Google Shape;47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6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What You Have Now</a:t>
            </a:r>
            <a:endParaRPr/>
          </a:p>
        </p:txBody>
      </p:sp>
      <p:pic>
        <p:nvPicPr>
          <p:cNvPr descr="yes_forest_900.png" id="484" name="Google Shape;48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6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486" name="Google Shape;486;p36"/>
          <p:cNvSpPr/>
          <p:nvPr/>
        </p:nvSpPr>
        <p:spPr>
          <a:xfrm>
            <a:off x="713232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7" name="Google Shape;48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6"/>
          <p:cNvSpPr txBox="1"/>
          <p:nvPr/>
        </p:nvSpPr>
        <p:spPr>
          <a:xfrm>
            <a:off x="1572768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real local repo</a:t>
            </a:r>
            <a:endParaRPr/>
          </a:p>
        </p:txBody>
      </p:sp>
      <p:sp>
        <p:nvSpPr>
          <p:cNvPr id="489" name="Google Shape;489;p36"/>
          <p:cNvSpPr txBox="1"/>
          <p:nvPr/>
        </p:nvSpPr>
        <p:spPr>
          <a:xfrm>
            <a:off x="969364" y="2789610"/>
            <a:ext cx="2825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with real commits</a:t>
            </a:r>
            <a:endParaRPr/>
          </a:p>
        </p:txBody>
      </p:sp>
      <p:sp>
        <p:nvSpPr>
          <p:cNvPr id="490" name="Google Shape;490;p36"/>
          <p:cNvSpPr/>
          <p:nvPr/>
        </p:nvSpPr>
        <p:spPr>
          <a:xfrm>
            <a:off x="4489704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DEEAF4"/>
          </a:solidFill>
          <a:ln cap="flat" cmpd="sng" w="22850">
            <a:solidFill>
              <a:srgbClr val="2274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ithub_forest_900.png" id="491" name="Google Shape;49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6"/>
          <p:cNvSpPr txBox="1"/>
          <p:nvPr/>
        </p:nvSpPr>
        <p:spPr>
          <a:xfrm>
            <a:off x="5349240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That repo</a:t>
            </a:r>
            <a:endParaRPr/>
          </a:p>
        </p:txBody>
      </p:sp>
      <p:sp>
        <p:nvSpPr>
          <p:cNvPr id="493" name="Google Shape;493;p36"/>
          <p:cNvSpPr txBox="1"/>
          <p:nvPr/>
        </p:nvSpPr>
        <p:spPr>
          <a:xfrm>
            <a:off x="4745736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pushed to GitHub</a:t>
            </a:r>
            <a:endParaRPr/>
          </a:p>
        </p:txBody>
      </p:sp>
      <p:sp>
        <p:nvSpPr>
          <p:cNvPr id="494" name="Google Shape;494;p36"/>
          <p:cNvSpPr/>
          <p:nvPr/>
        </p:nvSpPr>
        <p:spPr>
          <a:xfrm>
            <a:off x="8266175" y="1874519"/>
            <a:ext cx="3337560" cy="2514600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228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_forest_900.png" id="495" name="Google Shape;49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85632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6"/>
          <p:cNvSpPr txBox="1"/>
          <p:nvPr/>
        </p:nvSpPr>
        <p:spPr>
          <a:xfrm>
            <a:off x="9125711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The habit</a:t>
            </a:r>
            <a:endParaRPr/>
          </a:p>
        </p:txBody>
      </p:sp>
      <p:sp>
        <p:nvSpPr>
          <p:cNvPr id="497" name="Google Shape;497;p36"/>
          <p:cNvSpPr txBox="1"/>
          <p:nvPr/>
        </p:nvSpPr>
        <p:spPr>
          <a:xfrm>
            <a:off x="8522207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of checking git status often</a:t>
            </a:r>
            <a:endParaRPr/>
          </a:p>
        </p:txBody>
      </p:sp>
      <p:pic>
        <p:nvPicPr>
          <p:cNvPr descr="image1.png" id="498" name="Google Shape;498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7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Before Next Class</a:t>
            </a:r>
            <a:endParaRPr/>
          </a:p>
        </p:txBody>
      </p:sp>
      <p:pic>
        <p:nvPicPr>
          <p:cNvPr descr="task_list_forest_900.png" id="505" name="Google Shape;5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7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507" name="Google Shape;507;p37"/>
          <p:cNvSpPr/>
          <p:nvPr/>
        </p:nvSpPr>
        <p:spPr>
          <a:xfrm>
            <a:off x="822960" y="1874519"/>
            <a:ext cx="3291840" cy="2514600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08" name="Google Shape;50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416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7"/>
          <p:cNvSpPr txBox="1"/>
          <p:nvPr/>
        </p:nvSpPr>
        <p:spPr>
          <a:xfrm>
            <a:off x="1682495" y="207568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Keep</a:t>
            </a:r>
            <a:endParaRPr/>
          </a:p>
        </p:txBody>
      </p:sp>
      <p:sp>
        <p:nvSpPr>
          <p:cNvPr id="510" name="Google Shape;510;p37"/>
          <p:cNvSpPr txBox="1"/>
          <p:nvPr/>
        </p:nvSpPr>
        <p:spPr>
          <a:xfrm>
            <a:off x="1078992" y="2651760"/>
            <a:ext cx="277977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your practice repo around</a:t>
            </a:r>
            <a:endParaRPr/>
          </a:p>
        </p:txBody>
      </p:sp>
      <p:sp>
        <p:nvSpPr>
          <p:cNvPr id="511" name="Google Shape;511;p37"/>
          <p:cNvSpPr/>
          <p:nvPr/>
        </p:nvSpPr>
        <p:spPr>
          <a:xfrm>
            <a:off x="4480560" y="1874519"/>
            <a:ext cx="3383280" cy="2514600"/>
          </a:xfrm>
          <a:prstGeom prst="roundRect">
            <a:avLst>
              <a:gd fmla="val 16667" name="adj"/>
            </a:avLst>
          </a:prstGeom>
          <a:solidFill>
            <a:srgbClr val="DEEAF4"/>
          </a:solidFill>
          <a:ln cap="flat" cmpd="sng" w="22850">
            <a:solidFill>
              <a:srgbClr val="2274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rminal_forest_900.png" id="512" name="Google Shape;51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0016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7"/>
          <p:cNvSpPr txBox="1"/>
          <p:nvPr/>
        </p:nvSpPr>
        <p:spPr>
          <a:xfrm>
            <a:off x="5340096" y="207568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Next class</a:t>
            </a:r>
            <a:endParaRPr/>
          </a:p>
        </p:txBody>
      </p:sp>
      <p:sp>
        <p:nvSpPr>
          <p:cNvPr id="514" name="Google Shape;514;p37"/>
          <p:cNvSpPr txBox="1"/>
          <p:nvPr/>
        </p:nvSpPr>
        <p:spPr>
          <a:xfrm>
            <a:off x="4736592" y="2651760"/>
            <a:ext cx="287121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Same sequence, on your own</a:t>
            </a:r>
            <a:endParaRPr/>
          </a:p>
        </p:txBody>
      </p:sp>
      <p:sp>
        <p:nvSpPr>
          <p:cNvPr id="515" name="Google Shape;515;p37"/>
          <p:cNvSpPr/>
          <p:nvPr/>
        </p:nvSpPr>
        <p:spPr>
          <a:xfrm>
            <a:off x="8183879" y="1874519"/>
            <a:ext cx="3063240" cy="2514600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228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ask_list_forest_900.png" id="516" name="Google Shape;5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3336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7"/>
          <p:cNvSpPr txBox="1"/>
          <p:nvPr/>
        </p:nvSpPr>
        <p:spPr>
          <a:xfrm>
            <a:off x="9043415" y="2075688"/>
            <a:ext cx="20025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/>
          </a:p>
        </p:txBody>
      </p:sp>
      <p:sp>
        <p:nvSpPr>
          <p:cNvPr id="518" name="Google Shape;518;p37"/>
          <p:cNvSpPr txBox="1"/>
          <p:nvPr/>
        </p:nvSpPr>
        <p:spPr>
          <a:xfrm>
            <a:off x="8439911" y="2651760"/>
            <a:ext cx="255117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Terminal Practice</a:t>
            </a:r>
            <a:endParaRPr/>
          </a:p>
        </p:txBody>
      </p:sp>
      <p:pic>
        <p:nvPicPr>
          <p:cNvPr descr="image1.png" id="519" name="Google Shape;519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8"/>
          <p:cNvSpPr/>
          <p:nvPr/>
        </p:nvSpPr>
        <p:spPr>
          <a:xfrm>
            <a:off x="594360" y="347472"/>
            <a:ext cx="2194560" cy="384048"/>
          </a:xfrm>
          <a:prstGeom prst="roundRect">
            <a:avLst>
              <a:gd fmla="val 16667" name="adj"/>
            </a:avLst>
          </a:prstGeom>
          <a:solidFill>
            <a:srgbClr val="FECC5B"/>
          </a:solidFill>
          <a:ln cap="flat" cmpd="sng" w="13950">
            <a:solidFill>
              <a:srgbClr val="8367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8"/>
          <p:cNvSpPr txBox="1"/>
          <p:nvPr/>
        </p:nvSpPr>
        <p:spPr>
          <a:xfrm>
            <a:off x="640080" y="40233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KEEP LEARNING</a:t>
            </a:r>
            <a:endParaRPr/>
          </a:p>
        </p:txBody>
      </p:sp>
      <p:sp>
        <p:nvSpPr>
          <p:cNvPr id="527" name="Google Shape;527;p38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Where to Go From Here</a:t>
            </a:r>
            <a:endParaRPr/>
          </a:p>
        </p:txBody>
      </p:sp>
      <p:pic>
        <p:nvPicPr>
          <p:cNvPr descr="menu_book_gold_700.png" id="528" name="Google Shape;52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38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530" name="Google Shape;530;p38"/>
          <p:cNvSpPr/>
          <p:nvPr/>
        </p:nvSpPr>
        <p:spPr>
          <a:xfrm>
            <a:off x="777240" y="1828800"/>
            <a:ext cx="5074920" cy="2971800"/>
          </a:xfrm>
          <a:prstGeom prst="roundRect">
            <a:avLst>
              <a:gd fmla="val 16667" name="adj"/>
            </a:avLst>
          </a:prstGeom>
          <a:solidFill>
            <a:srgbClr val="A6C2B4"/>
          </a:solidFill>
          <a:ln cap="flat" cmpd="sng" w="22850">
            <a:solidFill>
              <a:srgbClr val="2643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nu_book_gold_700.png" id="531" name="Google Shape;53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95" y="204825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8"/>
          <p:cNvSpPr txBox="1"/>
          <p:nvPr/>
        </p:nvSpPr>
        <p:spPr>
          <a:xfrm>
            <a:off x="1636776" y="2029968"/>
            <a:ext cx="40142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Basics</a:t>
            </a:r>
            <a:endParaRPr/>
          </a:p>
        </p:txBody>
      </p:sp>
      <p:sp>
        <p:nvSpPr>
          <p:cNvPr id="533" name="Google Shape;533;p38"/>
          <p:cNvSpPr txBox="1"/>
          <p:nvPr/>
        </p:nvSpPr>
        <p:spPr>
          <a:xfrm>
            <a:off x="1033271" y="2606040"/>
            <a:ext cx="4562856" cy="20391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Pro Git book, Ch. 2</a:t>
            </a:r>
            <a:b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DOCS · 15–20 min</a:t>
            </a:r>
            <a:b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Free canonical git reference.</a:t>
            </a:r>
            <a:endParaRPr/>
          </a:p>
        </p:txBody>
      </p:sp>
      <p:sp>
        <p:nvSpPr>
          <p:cNvPr id="534" name="Google Shape;534;p38"/>
          <p:cNvSpPr/>
          <p:nvPr/>
        </p:nvSpPr>
        <p:spPr>
          <a:xfrm>
            <a:off x="6263640" y="1828800"/>
            <a:ext cx="5074920" cy="2971800"/>
          </a:xfrm>
          <a:prstGeom prst="roundRect">
            <a:avLst>
              <a:gd fmla="val 16667" name="adj"/>
            </a:avLst>
          </a:prstGeom>
          <a:solidFill>
            <a:srgbClr val="DEEAF4"/>
          </a:solidFill>
          <a:ln cap="flat" cmpd="sng" w="22850">
            <a:solidFill>
              <a:srgbClr val="2274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ithub_forest_900.png" id="535" name="Google Shape;53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096" y="204825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8"/>
          <p:cNvSpPr txBox="1"/>
          <p:nvPr/>
        </p:nvSpPr>
        <p:spPr>
          <a:xfrm>
            <a:off x="7123175" y="2029968"/>
            <a:ext cx="40142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Docs: Hello World</a:t>
            </a:r>
            <a:endParaRPr/>
          </a:p>
        </p:txBody>
      </p:sp>
      <p:sp>
        <p:nvSpPr>
          <p:cNvPr id="537" name="Google Shape;537;p38"/>
          <p:cNvSpPr txBox="1"/>
          <p:nvPr/>
        </p:nvSpPr>
        <p:spPr>
          <a:xfrm>
            <a:off x="6519672" y="2606040"/>
            <a:ext cx="4562856" cy="20391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PRACTICE · 15 min</a:t>
            </a:r>
            <a:b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220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GitHub’s short guided first-repo walkthrough.</a:t>
            </a:r>
            <a:endParaRPr/>
          </a:p>
        </p:txBody>
      </p:sp>
      <p:sp>
        <p:nvSpPr>
          <p:cNvPr id="538" name="Google Shape;538;p38">
            <a:hlinkClick r:id="rId6"/>
          </p:cNvPr>
          <p:cNvSpPr/>
          <p:nvPr/>
        </p:nvSpPr>
        <p:spPr>
          <a:xfrm>
            <a:off x="777240" y="1828800"/>
            <a:ext cx="5074920" cy="29718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1.png" id="539" name="Google Shape;539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